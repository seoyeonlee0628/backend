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32001"/>
            <a:ext cx="12193200" cy="12599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0" y="1512000"/>
            <a:ext cx="8640000" cy="3888000"/>
          </a:xfrm>
          <a:prstGeom prst="rect">
            <a:avLst/>
          </a:prstGeom>
          <a:solidFill>
            <a:srgbClr val="062A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180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6B6D4"/>
                </a:solidFill>
                <a:latin typeface="맑은 고딕"/>
              </a:rPr>
              <a:t>복지체크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2772000"/>
            <a:ext cx="79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  <a:latin typeface="맑은 고딕"/>
              </a:rPr>
              <a:t>AI 기반 청년 복지 통합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0" y="3240000"/>
            <a:ext cx="79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맑은 고딕"/>
              </a:rPr>
              <a:t>취준생을 위한 맞춤형 복지 자가진단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0000" y="4392000"/>
            <a:ext cx="1584000" cy="259200"/>
          </a:xfrm>
          <a:prstGeom prst="rect">
            <a:avLst/>
          </a:prstGeom>
          <a:solidFill>
            <a:srgbClr val="062A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6000" y="4392000"/>
            <a:ext cx="151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맑은 고딕"/>
              </a:rPr>
              <a:t>Spring Boot 3.x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0" y="4392000"/>
            <a:ext cx="1584000" cy="259200"/>
          </a:xfrm>
          <a:prstGeom prst="rect">
            <a:avLst/>
          </a:prstGeom>
          <a:solidFill>
            <a:srgbClr val="062A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6000" y="4392000"/>
            <a:ext cx="151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맑은 고딕"/>
              </a:rPr>
              <a:t>Python FastAPI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0" y="4392000"/>
            <a:ext cx="1584000" cy="259200"/>
          </a:xfrm>
          <a:prstGeom prst="rect">
            <a:avLst/>
          </a:prstGeom>
          <a:solidFill>
            <a:srgbClr val="062A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6000" y="4392000"/>
            <a:ext cx="151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맑은 고딕"/>
              </a:rPr>
              <a:t>MySQL 8.0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0" y="4392000"/>
            <a:ext cx="1584000" cy="259200"/>
          </a:xfrm>
          <a:prstGeom prst="rect">
            <a:avLst/>
          </a:prstGeom>
          <a:solidFill>
            <a:srgbClr val="062A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6000" y="4392000"/>
            <a:ext cx="151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맑은 고딕"/>
              </a:rPr>
              <a:t>Thymeleaf SPA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16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맑은 고딕"/>
              </a:rPr>
              <a:t>2026.06  |  취준생 전용 복지 플랫폼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프로젝트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복지체크 서비스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2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복지체크는 취준생을 위한 AI 기반 원스톱 복지 자가진단 플랫폼입니다.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620000"/>
            <a:ext cx="2700000" cy="23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620000"/>
            <a:ext cx="2700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745999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서비스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16000"/>
            <a:ext cx="248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복잡한 복지 정보를 쉽게 찾고
신청할 수 있도록 원스톱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2000" y="1620000"/>
            <a:ext cx="2700000" cy="23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2000" y="1620000"/>
            <a:ext cx="2700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0000" y="1745999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대상 사용자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0000" y="2016000"/>
            <a:ext cx="248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취준생 (19~34세)
청년 구직자 / 사회 초년생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2000" y="1620000"/>
            <a:ext cx="2700000" cy="23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2000" y="1620000"/>
            <a:ext cx="2700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1745999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핵심 가치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2016000"/>
            <a:ext cx="248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AI 맞춤 추천 + 접근성 향상
지속적 동기부여 게이미피케이션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2000" y="1620000"/>
            <a:ext cx="2700000" cy="23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2000" y="1620000"/>
            <a:ext cx="2700000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000" y="1745999"/>
            <a:ext cx="24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플랫폼 특징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000" y="2016000"/>
            <a:ext cx="2484000" cy="19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AI 진단+로드맵+커뮤니티
+찜 캘린더 완전 통합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4248000"/>
            <a:ext cx="1080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50">
                <a:solidFill>
                  <a:srgbClr val="FFFFFF"/>
                </a:solidFill>
                <a:latin typeface="맑은 고딕"/>
              </a:rPr>
              <a:t>• 자연어 입력 한 줄 → AI 맞춤 복지 서비스 즉시 추천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FFFFF"/>
                </a:solidFill>
                <a:latin typeface="맑은 고딕"/>
              </a:rPr>
              <a:t>• 7개 직군 × 3기간 취업 로드맵 자동 생성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FFFFF"/>
                </a:solidFill>
                <a:latin typeface="맑은 고딕"/>
              </a:rPr>
              <a:t>• 출석 포인트 → 뱃지·이모지·특별 직군 해금 게이미피케이션</a:t>
            </a:r>
          </a:p>
          <a:p>
            <a:pPr algn="l">
              <a:spcBef>
                <a:spcPts val="300"/>
              </a:spcBef>
            </a:pPr>
            <a:r>
              <a:rPr sz="1250">
                <a:solidFill>
                  <a:srgbClr val="FFFFFF"/>
                </a:solidFill>
                <a:latin typeface="맑은 고딕"/>
              </a:rPr>
              <a:t>• 커뮤니티, 찜 캘린더, 마이페이지 통합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개발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왜 이 서비스가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2520000" cy="172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33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맑은 고딕"/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052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청년 복지
수혜율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0" y="1260000"/>
            <a:ext cx="2520000" cy="172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0000" y="133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맑은 고딕"/>
              </a:rPr>
              <a:t>2.3만개+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0" y="2052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복지 서비스
총 개수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8000" y="1260000"/>
            <a:ext cx="2520000" cy="172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8000" y="133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맑은 고딕"/>
              </a:rP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000" y="2052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정보 탐색
어렵다 응답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6000" y="1260000"/>
            <a:ext cx="2520000" cy="172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6000" y="1332000"/>
            <a:ext cx="25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맑은 고딕"/>
              </a:rP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6000" y="2052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복지 신청
포기 경험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240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핵심 문제점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3528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정보 분산: 복지로·워크넷·지자체 사이트 각각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복잡한 신청 절차로 중도 포기율 높음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개인 상황 맞춤 추천 서비스 전무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취업 준비와 복지 정보 연계 부재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0000" y="3240000"/>
            <a:ext cx="50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맑은 고딕"/>
              </a:rPr>
              <a:t>복지체크의 해결책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3528000"/>
            <a:ext cx="504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자연어 1줄 → AI 복지 즉시 추천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취업 로드맵 + 복지 정보 원스톱 통합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출석 포인트로 지속 재방문 유도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모바일 친화적 SPA로 접근성 극대화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4/12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시장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기존 서비스 현황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기존 청년 복지·취업 플랫폼 비교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584000"/>
            <a:ext cx="2520000" cy="25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584000"/>
            <a:ext cx="244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맑은 고딕"/>
              </a:rPr>
              <a:t>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0000" y="1584000"/>
            <a:ext cx="2951999" cy="25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6000" y="1584000"/>
            <a:ext cx="2879999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맑은 고딕"/>
              </a:rPr>
              <a:t>주요 기능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584000"/>
            <a:ext cx="2844000" cy="25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6000" y="1584000"/>
            <a:ext cx="277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맑은 고딕"/>
              </a:rPr>
              <a:t>한계점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2000" y="1584000"/>
            <a:ext cx="2520000" cy="25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8000" y="1584000"/>
            <a:ext cx="2448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72A"/>
                </a:solidFill>
                <a:latin typeface="맑은 고딕"/>
              </a:rPr>
              <a:t>대상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872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1908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복지로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0000" y="1872000"/>
            <a:ext cx="2951999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4000" y="1908000"/>
            <a:ext cx="284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복지 정보 통합 제공
온라인 신청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1872000"/>
            <a:ext cx="2844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908000"/>
            <a:ext cx="27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개인화 없음
AI 추천 전무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2000" y="1872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6000" y="1908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전 국민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2556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000" y="2592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워크넷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0000" y="2556000"/>
            <a:ext cx="2951999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4000" y="2592000"/>
            <a:ext cx="284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구인·구직 매칭
취업 정보 제공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2556000"/>
            <a:ext cx="2844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4000" y="2592000"/>
            <a:ext cx="27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복지 연계 없음
청년 특화 부족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2000" y="2556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6000" y="2592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구직자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3240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000" y="3276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청년정책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0000" y="3240000"/>
            <a:ext cx="2951999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4000" y="3276000"/>
            <a:ext cx="284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청년 정책 정보
지자체 연계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0" y="3240000"/>
            <a:ext cx="2844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4000" y="3276000"/>
            <a:ext cx="27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정적 정보 나열
상호작용 없음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72000" y="3240000"/>
            <a:ext cx="2520000" cy="64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26000" y="3276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청년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3924000"/>
            <a:ext cx="2520000" cy="648000"/>
          </a:xfrm>
          <a:prstGeom prst="rect">
            <a:avLst/>
          </a:prstGeom>
          <a:solidFill>
            <a:srgbClr val="062A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000" y="3960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맑은 고딕"/>
              </a:rPr>
              <a:t>복지체크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0000" y="3924000"/>
            <a:ext cx="2951999" cy="648000"/>
          </a:xfrm>
          <a:prstGeom prst="rect">
            <a:avLst/>
          </a:prstGeom>
          <a:solidFill>
            <a:srgbClr val="062A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14000" y="3960000"/>
            <a:ext cx="2843999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AI 진단+로드맵
커뮤니티+캘린더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0000" y="3924000"/>
            <a:ext cx="2844000" cy="648000"/>
          </a:xfrm>
          <a:prstGeom prst="rect">
            <a:avLst/>
          </a:prstGeom>
          <a:solidFill>
            <a:srgbClr val="062A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960000"/>
            <a:ext cx="27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맑은 고딕"/>
              </a:rPr>
              <a:t>없음 (우리가 해결)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2000" y="3924000"/>
            <a:ext cx="2520000" cy="648000"/>
          </a:xfrm>
          <a:prstGeom prst="rect">
            <a:avLst/>
          </a:prstGeom>
          <a:solidFill>
            <a:srgbClr val="062A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26000" y="3960000"/>
            <a:ext cx="241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맑은 고딕"/>
              </a:rPr>
              <a:t>취준생 특화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2000" y="5220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맑은 고딕"/>
              </a:rPr>
              <a:t>→ 기존 서비스는 복지 OR 취업 중 하나만 제공. 복지체크는 AI로 둘을 통합한 유일한 플랫폼.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5/12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차별화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복지체크만의 경쟁 우위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AI 자연어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Python FastAPI + NLP
자연어 1줄 → 맞춤 복지 즉시 추천
키워드 추출 → 조건 매칭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3999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3999" y="1260000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1999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직군별 로드맵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1999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7개 직군 x 3기간 = 21가지 조합
개발자/디자이너/마케터/기획자/공무원
프리랜서/유튜버 포인트 해금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5998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5998" y="1260000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998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게이미피케이션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998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매일 출석 +10P 포인트 적립
뱃지·이모지·직군 해금 보상
지속 재방문 동기 부여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275999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커뮤니티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취준생 전용 게시판
좋아요·북마크·댓글·부스트
정보 공유 + 네트워킹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3999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275999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1999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찜 캘린더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1999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혜택 마감일 캘린더 관리
찜한 혜택 한눈에 확인
놓치는 혜택 Zero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5998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5998" y="3275999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998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보안·안정성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3998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Spring Security 세션 인증
CSRF 보호, 권한 접근 제어
API 29개 전수 테스트 통과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6/12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전체 시스템 구조 및 데이터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332000"/>
            <a:ext cx="2808000" cy="414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332000"/>
            <a:ext cx="28080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47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맑은 고딕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00000"/>
            <a:ext cx="2592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Thymeleaf SPA
Tailwind CSS
app.js / api.js
api-bridge.js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1332000"/>
            <a:ext cx="2808000" cy="19080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0" y="1332000"/>
            <a:ext cx="2808000" cy="9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000" y="1476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맑은 고딕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000" y="1800000"/>
            <a:ext cx="25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Spring Boot 3.x
Java 17 / Port 8080
Spring Security
JPA / Hibernate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0" y="3420000"/>
            <a:ext cx="2808000" cy="1908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0000" y="3420000"/>
            <a:ext cx="2808000" cy="9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000" y="356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맑은 고딕"/>
              </a:rPr>
              <a:t>ML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8000" y="3888000"/>
            <a:ext cx="2592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Python FastAPI
Port 8000
NLP 파이프라인
복지 키워드 매칭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0" y="1332000"/>
            <a:ext cx="3420000" cy="414000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0000" y="1332000"/>
            <a:ext cx="3420000" cy="9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8000" y="1476000"/>
            <a:ext cx="320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맑은 고딕"/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8000" y="1800000"/>
            <a:ext cx="320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MySQL 8.0
Port 3306
User / Post / Comment
PostLike / Bookmark
WishItem /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8000" y="2160000"/>
            <a:ext cx="9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맑은 고딕"/>
              </a:rPr>
              <a:t>HTTP &lt;-&gt; 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780000"/>
            <a:ext cx="9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맑은 고딕"/>
              </a:rPr>
              <a:t>REST &lt;-&gt;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2000" y="2160000"/>
            <a:ext cx="9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맑은 고딕"/>
              </a:rPr>
              <a:t>JPA &lt;-&gt;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2000" y="3780000"/>
            <a:ext cx="9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  <a:latin typeface="맑은 고딕"/>
              </a:rPr>
              <a:t>JPA &lt;-&gt;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00" y="5760000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맑은 고딕"/>
              </a:rPr>
              <a:t>사용자 -&gt; Spring Boot API -&gt; ML 서버 NLP 분석 -&gt; MySQL 조회 -&gt; JSON 응답 -&gt; Thymeleaf 렌더링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7/12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기술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사용된 기술 스택 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260000"/>
            <a:ext cx="54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맑은 고딕"/>
              </a:rPr>
              <a:t>백엔드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519200"/>
            <a:ext cx="52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674000"/>
            <a:ext cx="79200" cy="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60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Spring Boot 3.x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7999" y="160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Java 17 기반 메인 API 서버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160000"/>
            <a:ext cx="79200" cy="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08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Spring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7999" y="208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세션 인증, CSRF 보호, 권한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646000"/>
            <a:ext cx="79200" cy="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257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JPA / Hibernate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7999" y="257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ORM, MySQL 연동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132000"/>
            <a:ext cx="79200" cy="1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306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Maven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7999" y="3060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빌드 도구 및 의존성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0" y="1260000"/>
            <a:ext cx="54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맑은 고딕"/>
              </a:rPr>
              <a:t>프론트엔드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2000" y="1519200"/>
            <a:ext cx="5220000" cy="1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2000" y="1674000"/>
            <a:ext cx="79200" cy="1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000" y="160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Thymeleaf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7999" y="160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서버사이드 템플릿 엔진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2000" y="2160000"/>
            <a:ext cx="79200" cy="1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000" y="2088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Tailwind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7999" y="208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유틸리티 CSS 프레임워크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2000" y="2646000"/>
            <a:ext cx="79200" cy="1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000" y="257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Vanilla JS (SPA)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7999" y="257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goPage() 기반 단일 페이지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2000" y="3132000"/>
            <a:ext cx="79200" cy="18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000" y="306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api-bridge.js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07999" y="3060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서버 API 오버라이드 레이어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000" y="3852000"/>
            <a:ext cx="54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맑은 고딕"/>
              </a:rPr>
              <a:t>AI / 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4111200"/>
            <a:ext cx="5220000" cy="1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000" y="4266000"/>
            <a:ext cx="79200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00" y="419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Python FastAPI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47999" y="419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ML 추론 API 서버 (Port 8000)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4752000"/>
            <a:ext cx="79200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00" y="468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NLP 파이프라인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7999" y="4680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키워드 추출 + 복지 조건 매칭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000" y="5238000"/>
            <a:ext cx="79200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00" y="516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roadmap_templates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47999" y="5166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21가지 로드맵 템플릿 관리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5724000"/>
            <a:ext cx="79200" cy="1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00" y="565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LocalModelService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47999" y="565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Spring &lt;-&gt; FastAPI 연동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2000" y="3852000"/>
            <a:ext cx="5400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맑은 고딕"/>
              </a:rPr>
              <a:t>인프라 / DB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2000" y="4111200"/>
            <a:ext cx="5220000" cy="1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92000" y="4266000"/>
            <a:ext cx="79200" cy="18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000" y="4194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MySQL 8.0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7999" y="419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메인 관계형 DB (Port 3306)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2000" y="4752000"/>
            <a:ext cx="79200" cy="18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6000" y="468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JPA 엔티티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7999" y="4680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User/Post/Comment/Wish 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92000" y="5238000"/>
            <a:ext cx="79200" cy="18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36000" y="5166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Spring DevTools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7999" y="5166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개발 환경 핫리로드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92000" y="5724000"/>
            <a:ext cx="79200" cy="180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000" y="5652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REST API 29개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7999" y="565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전수 자동화 테스트 통과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8/12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핵심 기능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맞춤형 복지 추천 및 취업 지원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AI 복지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자연어 입력 -&gt; Python NLP
맞춤 복지 서비스 추천
키워드 추출+조건 매칭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3999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3999" y="1260000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1999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취업 로드맵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1999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7개 직군 x 3기간 = 21가지
월별 세부 목표 자동 생성
프리랜서/유튜버 80P 해금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5998" y="1260000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5998" y="1260000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998" y="1385999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출석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998" y="1656000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매일 출석 +10P 자동 지급
이중 출석 방지 로직
연속 출석 스트릭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3275999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뱃지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칭호 뱃지 / 특별 직군 해금
닉네임 이모지 (20P)
뱃지 상점 실시간 반영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3999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83999" y="3275999"/>
            <a:ext cx="3671999" cy="72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1999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맑은 고딕"/>
              </a:rPr>
              <a:t>커뮤니티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1999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게시글 CRUD+좋아요/북마크
댓글+게시글 부스트(50P)
authorEmoji 실시간 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5998" y="3275999"/>
            <a:ext cx="3671999" cy="1835999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5998" y="3275999"/>
            <a:ext cx="3671999" cy="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998" y="3401998"/>
            <a:ext cx="345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맑은 고딕"/>
              </a:rPr>
              <a:t>찜 캘린더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3998" y="3671999"/>
            <a:ext cx="3455999" cy="14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맑은 고딕"/>
              </a:rPr>
              <a:t>복지 혜택 찜+마감일 관리
캘린더 UI 한눈 확인
찜 목록 마이페이지 통합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9/12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서비스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페이지별 화면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B6D4"/>
                </a:solidFill>
                <a:latin typeface="맑은 고딕"/>
              </a:rPr>
              <a:t>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서비스 소개
출석 체크
빠른 메뉴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맑은 고딕"/>
              </a:rPr>
              <a:t>복지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자연어 입력
AI 분석 결과
복지 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B6D4"/>
                </a:solidFill>
                <a:latin typeface="맑은 고딕"/>
              </a:rPr>
              <a:t>로드맵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직군 태그 선택
기간 선택
월별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맑은 고딕"/>
              </a:rPr>
              <a:t>커뮤니티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게시판 목록
좋아요/댓글
북마크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B6D4"/>
                </a:solidFill>
                <a:latin typeface="맑은 고딕"/>
              </a:rPr>
              <a:t>찜 캘린더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혜택 찜 목록
마감일 관리
캘린더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8B5CF6"/>
                </a:solidFill>
                <a:latin typeface="맑은 고딕"/>
              </a:rPr>
              <a:t>마이페이지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프로필/포인트
뱃지/이모지
활동 내역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52000" y="1260000"/>
            <a:ext cx="1512000" cy="144000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88000" y="1332000"/>
            <a:ext cx="1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6B6D4"/>
                </a:solidFill>
                <a:latin typeface="맑은 고딕"/>
              </a:rPr>
              <a:t>관리자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8000" y="1655999"/>
            <a:ext cx="14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사용자 관리
게시글 관리
공지 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298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JavaScript 레이어 구조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3276000"/>
            <a:ext cx="1260000" cy="23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000" y="3276000"/>
            <a:ext cx="11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맑은 고딕"/>
              </a:rPr>
              <a:t>api.js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0" y="3276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-&gt;  서버 HTTP 통신 함수 (apiFetch, apiLogin, apiCreatePost 등)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3581999"/>
            <a:ext cx="1260000" cy="23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000" y="3581999"/>
            <a:ext cx="11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app.js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0000" y="3581999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-&gt;  UI 렌더링 및 이벤트 핸들러 (toggleJobTag, buyEmoji, openMyPage 등)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000" y="3888000"/>
            <a:ext cx="1260000" cy="234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000" y="3888000"/>
            <a:ext cx="1188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  <a:latin typeface="맑은 고딕"/>
              </a:rPr>
              <a:t>api-bridge.js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0000" y="3888000"/>
            <a:ext cx="93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맑은 고딕"/>
              </a:rPr>
              <a:t>-&gt;  서버 연동 오버라이드 레이어 (submitPost, toggleLikePost, openPost 등)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00" y="424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DB 엔티티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500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맑은 고딕"/>
              </a:rPr>
              <a:t>User | Post | Comment | PostLike | Bookmark | WishItem | Attendance | 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개발 과정 (마일스톤)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단계별 개발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67999" y="2340000"/>
            <a:ext cx="2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맑은 고딕"/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368000"/>
            <a:ext cx="1764000" cy="7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맑은 고딕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요구사항 분석
&amp; DB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엔티티 설계
관계 정의
ERD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1999" y="2340000"/>
            <a:ext cx="2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맑은 고딕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6000" y="1368000"/>
            <a:ext cx="1764000" cy="7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2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맑은 고딕"/>
              </a:rPr>
              <a:t>M2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2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Spring Boot
API 서버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2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인증/인가
REST API
JPA 연동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5999" y="2340000"/>
            <a:ext cx="2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맑은 고딕"/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1368000"/>
            <a:ext cx="1764000" cy="7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6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맑은 고딕"/>
              </a:rPr>
              <a:t>M3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6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Python ML
서버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6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FastAPI 구축
NLP 파이프라인
Spring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9999" y="2340000"/>
            <a:ext cx="2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맑은 고딕"/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4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4000" y="1368000"/>
            <a:ext cx="1764000" cy="79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맑은 고딕"/>
              </a:rP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Thymeleaf SPA
프론트 구현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goPage SPA
UI 컴포넌트
api.js 레이어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3999" y="2340000"/>
            <a:ext cx="21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맑은 고딕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8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08000" y="1368000"/>
            <a:ext cx="1764000" cy="7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4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맑은 고딕"/>
              </a:rPr>
              <a:t>M5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게이미피케이션
&amp; 특별 기능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4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포인트/뱃지
직군 해금
이모지 시스템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52000" y="1368000"/>
            <a:ext cx="1764000" cy="306000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52000" y="1368000"/>
            <a:ext cx="1764000" cy="79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88000" y="1475999"/>
            <a:ext cx="1692000" cy="25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  <a:latin typeface="맑은 고딕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8000" y="1764000"/>
            <a:ext cx="1692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통합 테스트
&amp; 완성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8000" y="2340000"/>
            <a:ext cx="1692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맑은 고딕"/>
              </a:rPr>
              <a:t>29/29 PASS
버그 수정
최종 완성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478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주요 기술 이슈 해결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000" y="5076000"/>
            <a:ext cx="108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맑은 고딕"/>
              </a:rPr>
              <a:t>• api-bridge.js 오버라이드 패턴 -&gt; app.js 서버 미연동 문제 해결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맑은 고딕"/>
              </a:rPr>
              <a:t>• PostService toggleLike() Map&lt;&gt; 반환 -&gt; likeCount 실시간 반영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맑은 고딕"/>
              </a:rPr>
              <a:t>• PowerShell $PID 예약 변수 충돌 -&gt; $postIdVal 로 변경, 29/29 전수 통과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94A3B8"/>
                </a:solidFill>
                <a:latin typeface="맑은 고딕"/>
              </a:rPr>
              <a:t>• Python NLP 7개 직군 로드맵 템플릿 완성 (프리랜서/유튜버 신규 추가)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11/12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개발 완료 지표 및 달성 현황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2700000" cy="172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332000"/>
            <a:ext cx="27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맑은 고딕"/>
              </a:rPr>
              <a:t>29 /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088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REST API 전수
테스트 통과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2000" y="1260000"/>
            <a:ext cx="2700000" cy="172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2000" y="1332000"/>
            <a:ext cx="27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6D4"/>
                </a:solidFill>
                <a:latin typeface="맑은 고딕"/>
              </a:rPr>
              <a:t>7개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2000" y="2088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직군별
취업 로드맵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1260000"/>
            <a:ext cx="2700000" cy="172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000" y="1332000"/>
            <a:ext cx="27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  <a:latin typeface="맑은 고딕"/>
              </a:rPr>
              <a:t>21가지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0" y="2088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로드맵 조합
(직군x기간)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2000" y="1260000"/>
            <a:ext cx="2700000" cy="1728000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2000" y="1332000"/>
            <a:ext cx="27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맑은 고딕"/>
              </a:rPr>
              <a:t>6단계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000" y="2088000"/>
            <a:ext cx="27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맑은 고딕"/>
              </a:rPr>
              <a:t>마일스톤
전체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3348000"/>
            <a:ext cx="108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구현 완료 기능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3636000"/>
            <a:ext cx="1080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AI 복지 진단: 자연어 입력 -&gt; Python NLP -&gt; 맞춤 복지 서비스 추천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취업 로드맵: 7개 직군 x 3기간 월별 세부 목표 자동 생성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포인트 시스템: 출석 +10P, 뱃지/이모지 구매, 특별 직군 80P 해금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커뮤니티: 게시글 CRUD, 좋아요/북마크/댓글/부스트, 닉네임 이모지 표시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찜 캘린더: 복지 혜택 찜 + 마감일 캘린더 관리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94A3B8"/>
                </a:solidFill>
                <a:latin typeface="맑은 고딕"/>
              </a:rPr>
              <a:t>• 관리자: 사용자 관리, 게시글 관리, 공지 PIN 설정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8000"/>
            <a:ext cx="12193200" cy="9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3200" y="6516000"/>
            <a:ext cx="79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맑은 고딕"/>
              </a:rPr>
              <a:t>12/12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맑은 고딕"/>
              </a:rPr>
              <a:t>향후 발전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756000"/>
            <a:ext cx="100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5CF6"/>
                </a:solidFill>
                <a:latin typeface="맑은 고딕"/>
              </a:rPr>
              <a:t>서비스 고도화 및 확장 계획 수립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62000"/>
            <a:ext cx="4320000" cy="1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3600000" cy="4031999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260000"/>
            <a:ext cx="3600000" cy="10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404000"/>
            <a:ext cx="34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맑은 고딕"/>
              </a:rPr>
              <a:t>단기 (3개월)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1728000"/>
            <a:ext cx="34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정부 복지로 Open API 실연동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지역별/나이별 복지 필터링 강화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소셜 로그인 (카카오/네이버)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PWA 변환으로 모바일 앱 경험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1260000"/>
            <a:ext cx="3600000" cy="4031999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0" y="1260000"/>
            <a:ext cx="3600000" cy="10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000" y="1404000"/>
            <a:ext cx="34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맑은 고딕"/>
              </a:rPr>
              <a:t>중기 (6개월)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000" y="1728000"/>
            <a:ext cx="34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GPT 기반 대화형 복지 상담 챗봇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로드맵 AI 개인화 (진단 이력 학습)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기업 취업 공고 API 연동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복지 신청 현황 트래킹 기능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08000" y="1260000"/>
            <a:ext cx="3600000" cy="4031999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8000" y="1260000"/>
            <a:ext cx="3600000" cy="10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6000" y="1404000"/>
            <a:ext cx="342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맑은 고딕"/>
              </a:rPr>
              <a:t>장기 (1년+)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1728000"/>
            <a:ext cx="3420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React Native 네이티브 앱 출시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복지 수급자 멘토링 매칭 시스템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B2G 지자체 복지 플랫폼 납품</a:t>
            </a:r>
          </a:p>
          <a:p>
            <a:pPr algn="l">
              <a:spcBef>
                <a:spcPts val="300"/>
              </a:spcBef>
            </a:pPr>
            <a:r>
              <a:rPr sz="1150">
                <a:solidFill>
                  <a:srgbClr val="94A3B8"/>
                </a:solidFill>
                <a:latin typeface="맑은 고딕"/>
              </a:rPr>
              <a:t>• ML 고도화: 성공 사례 데이터 학습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580000"/>
            <a:ext cx="11340000" cy="720000"/>
          </a:xfrm>
          <a:prstGeom prst="rect">
            <a:avLst/>
          </a:prstGeom>
          <a:solidFill>
            <a:srgbClr val="062A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5670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FFFFFF"/>
                </a:solidFill>
                <a:latin typeface="맑은 고딕"/>
              </a:rPr>
              <a:t>복지체크는 취준생의 복지 접근성을 높이고, AI와 게이미피케이션으로 지속 사용을 유도하는 플랫폼으로 발전시켜 나가겠습니다.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